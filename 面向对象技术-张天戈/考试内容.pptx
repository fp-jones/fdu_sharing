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</p:sldIdLst>
  <p:sldSz cx="9144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7461230" y="2965467"/>
            <a:ext cx="1384310" cy="2228850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2159000" y="1777161"/>
            <a:ext cx="3766820" cy="753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7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r" rtl="0" eaLnBrk="0">
              <a:lnSpc>
                <a:spcPct val="95000"/>
              </a:lnSpc>
            </a:pPr>
            <a:r>
              <a:rPr sz="5000" kern="0" spc="-210" dirty="0">
                <a:solidFill>
                  <a:srgbClr val="40107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0OT</a:t>
            </a:r>
            <a:r>
              <a:rPr sz="5000" kern="0" spc="-310" dirty="0">
                <a:solidFill>
                  <a:srgbClr val="40107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5000" b="1" kern="0" spc="-210" dirty="0">
                <a:solidFill>
                  <a:srgbClr val="40107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考试内容</a:t>
            </a:r>
            <a:endParaRPr sz="5000" dirty="0">
              <a:latin typeface="黑体"/>
              <a:ea typeface="黑体"/>
              <a:cs typeface="黑体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92059" y="2806705"/>
            <a:ext cx="8255020" cy="6377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308870" y="1047765"/>
            <a:ext cx="6350" cy="45148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/>
          <p:nvPr/>
        </p:nvSpPr>
        <p:spPr>
          <a:xfrm>
            <a:off x="501650" y="870585"/>
            <a:ext cx="6513830" cy="48152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3900" kern="0" spc="-40" dirty="0">
                <a:solidFill>
                  <a:srgbClr val="40208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考试内容</a:t>
            </a:r>
            <a:endParaRPr sz="3900" dirty="0">
              <a:latin typeface="宋体"/>
              <a:ea typeface="宋体"/>
              <a:cs typeface="宋体"/>
            </a:endParaRPr>
          </a:p>
          <a:p>
            <a:pPr algn="l" rtl="0" eaLnBrk="0">
              <a:lnSpc>
                <a:spcPct val="184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6000"/>
              </a:lnSpc>
              <a:spcBef>
                <a:spcPts val="905"/>
              </a:spcBef>
            </a:pPr>
            <a:r>
              <a:rPr sz="3000" kern="0" spc="-1650" dirty="0">
                <a:solidFill>
                  <a:srgbClr val="40205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●</a:t>
            </a:r>
            <a:r>
              <a:rPr sz="3000" kern="0" spc="-320" dirty="0">
                <a:solidFill>
                  <a:srgbClr val="40205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</a:t>
            </a:r>
            <a:r>
              <a:rPr sz="3000" kern="0" spc="34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第一部分(</a:t>
            </a:r>
            <a:r>
              <a:rPr lang="en-US" sz="3000" kern="0" spc="34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80</a:t>
            </a:r>
            <a:r>
              <a:rPr sz="3000" kern="0" spc="34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%)</a:t>
            </a:r>
            <a:endParaRPr sz="3000" dirty="0">
              <a:latin typeface="黑体"/>
              <a:ea typeface="黑体"/>
              <a:cs typeface="黑体"/>
            </a:endParaRPr>
          </a:p>
          <a:p>
            <a:pPr marL="329565" algn="l" rtl="0" eaLnBrk="0">
              <a:lnSpc>
                <a:spcPct val="107000"/>
              </a:lnSpc>
              <a:spcBef>
                <a:spcPts val="915"/>
              </a:spcBef>
            </a:pPr>
            <a:r>
              <a:rPr sz="2900" kern="0" spc="-20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设计模式</a:t>
            </a:r>
            <a:r>
              <a:rPr sz="2900" kern="0" spc="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       </a:t>
            </a:r>
            <a:endParaRPr sz="2900" kern="0" spc="0" dirty="0">
              <a:solidFill>
                <a:srgbClr val="000000">
                  <a:alpha val="100000"/>
                </a:srgbClr>
              </a:solidFill>
              <a:latin typeface="宋体"/>
              <a:ea typeface="宋体"/>
              <a:cs typeface="宋体"/>
            </a:endParaRPr>
          </a:p>
          <a:p>
            <a:pPr marL="329565" algn="l" rtl="0" eaLnBrk="0">
              <a:lnSpc>
                <a:spcPct val="107000"/>
              </a:lnSpc>
              <a:spcBef>
                <a:spcPts val="915"/>
              </a:spcBef>
            </a:pPr>
            <a:r>
              <a:rPr sz="2700" kern="0" spc="-21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重构</a:t>
            </a:r>
            <a:endParaRPr sz="2700" kern="0" spc="-210" dirty="0">
              <a:solidFill>
                <a:srgbClr val="000000">
                  <a:alpha val="100000"/>
                </a:srgbClr>
              </a:solidFill>
              <a:latin typeface="宋体"/>
              <a:ea typeface="宋体"/>
              <a:cs typeface="宋体"/>
            </a:endParaRPr>
          </a:p>
          <a:p>
            <a:pPr marL="329565" algn="l" rtl="0" eaLnBrk="0">
              <a:lnSpc>
                <a:spcPct val="107000"/>
              </a:lnSpc>
              <a:spcBef>
                <a:spcPts val="915"/>
              </a:spcBef>
            </a:pPr>
            <a:r>
              <a:rPr sz="3000" kern="0" spc="-21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测试驱动的开</a:t>
            </a:r>
            <a:r>
              <a:rPr sz="3000" kern="0" spc="-20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发</a:t>
            </a:r>
            <a:endParaRPr sz="3000" dirty="0">
              <a:latin typeface="宋体"/>
              <a:ea typeface="宋体"/>
              <a:cs typeface="宋体"/>
            </a:endParaRPr>
          </a:p>
          <a:p>
            <a:pPr marL="329565" algn="l" rtl="0" eaLnBrk="0">
              <a:lnSpc>
                <a:spcPct val="98000"/>
              </a:lnSpc>
              <a:spcBef>
                <a:spcPts val="375"/>
              </a:spcBef>
            </a:pPr>
            <a:r>
              <a:rPr sz="2900" kern="0" spc="-21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设计原则</a:t>
            </a:r>
            <a:endParaRPr sz="2900" dirty="0">
              <a:latin typeface="宋体"/>
              <a:ea typeface="宋体"/>
              <a:cs typeface="宋体"/>
            </a:endParaRPr>
          </a:p>
          <a:p>
            <a:pPr marL="12700" algn="l" rtl="0" eaLnBrk="0">
              <a:lnSpc>
                <a:spcPct val="95000"/>
              </a:lnSpc>
              <a:spcBef>
                <a:spcPts val="220"/>
              </a:spcBef>
            </a:pPr>
            <a:r>
              <a:rPr sz="3000" kern="0" spc="-190" dirty="0">
                <a:solidFill>
                  <a:srgbClr val="20105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●</a:t>
            </a:r>
            <a:r>
              <a:rPr sz="3000" kern="0" spc="-330" dirty="0">
                <a:solidFill>
                  <a:srgbClr val="20105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 </a:t>
            </a:r>
            <a:r>
              <a:rPr sz="3000" kern="0" spc="-19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第二部分 (2</a:t>
            </a:r>
            <a:r>
              <a:rPr lang="en-US" sz="3000" kern="0" spc="-19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0</a:t>
            </a:r>
            <a:r>
              <a:rPr sz="3000" kern="0" spc="-19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%)</a:t>
            </a:r>
            <a:endParaRPr sz="3000" dirty="0">
              <a:latin typeface="宋体"/>
              <a:ea typeface="宋体"/>
              <a:cs typeface="宋体"/>
            </a:endParaRPr>
          </a:p>
          <a:p>
            <a:pPr marL="329565" algn="l" rtl="0" eaLnBrk="0">
              <a:lnSpc>
                <a:spcPct val="99000"/>
              </a:lnSpc>
              <a:spcBef>
                <a:spcPts val="395"/>
              </a:spcBef>
            </a:pPr>
            <a:r>
              <a:rPr sz="2900" kern="0" spc="-19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领域模型</a:t>
            </a:r>
            <a:endParaRPr sz="2900" dirty="0">
              <a:latin typeface="宋体"/>
              <a:ea typeface="宋体"/>
              <a:cs typeface="宋体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128009" y="127010"/>
            <a:ext cx="825520" cy="132078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4"/>
          <p:cNvSpPr/>
          <p:nvPr/>
        </p:nvSpPr>
        <p:spPr>
          <a:xfrm>
            <a:off x="488939" y="1808779"/>
            <a:ext cx="8034019" cy="41954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9000"/>
              </a:lnSpc>
            </a:pPr>
            <a:r>
              <a:rPr sz="2700" kern="0" spc="-230" dirty="0">
                <a:solidFill>
                  <a:srgbClr val="40206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●</a:t>
            </a:r>
            <a:r>
              <a:rPr sz="2700" kern="0" spc="-230" dirty="0">
                <a:solidFill>
                  <a:srgbClr val="40206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</a:t>
            </a:r>
            <a:r>
              <a:rPr sz="2700" kern="0" spc="-23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考试形式为开卷考</a:t>
            </a:r>
            <a:r>
              <a:rPr sz="2700" kern="0" spc="-24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。</a:t>
            </a:r>
            <a:endParaRPr sz="2700" dirty="0">
              <a:latin typeface="黑体"/>
              <a:ea typeface="黑体"/>
              <a:cs typeface="黑体"/>
            </a:endParaRPr>
          </a:p>
          <a:p>
            <a:pPr marL="316865" indent="-304165" algn="l" rtl="0" eaLnBrk="0">
              <a:lnSpc>
                <a:spcPct val="105000"/>
              </a:lnSpc>
              <a:spcBef>
                <a:spcPts val="1230"/>
              </a:spcBef>
            </a:pPr>
            <a:r>
              <a:rPr sz="2800" kern="0" spc="-110" dirty="0">
                <a:solidFill>
                  <a:srgbClr val="60208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●</a:t>
            </a:r>
            <a:r>
              <a:rPr sz="2800" kern="0" spc="-110" dirty="0">
                <a:solidFill>
                  <a:srgbClr val="60208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</a:t>
            </a:r>
            <a:r>
              <a:rPr sz="2800" kern="0" spc="-11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第一部分的内容大家可</a:t>
            </a:r>
            <a:r>
              <a:rPr sz="2800" kern="0" spc="-12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以携带自行选择的参考资料</a:t>
            </a: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</a:t>
            </a:r>
            <a:r>
              <a:rPr sz="2800" kern="0" spc="-4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或者讲义</a:t>
            </a:r>
            <a:endParaRPr sz="2800" dirty="0">
              <a:latin typeface="黑体"/>
              <a:ea typeface="黑体"/>
              <a:cs typeface="黑体"/>
            </a:endParaRPr>
          </a:p>
          <a:p>
            <a:pPr marL="316865" indent="-304165" algn="l" rtl="0" eaLnBrk="0">
              <a:lnSpc>
                <a:spcPct val="100000"/>
              </a:lnSpc>
              <a:spcBef>
                <a:spcPts val="1370"/>
              </a:spcBef>
            </a:pPr>
            <a:r>
              <a:rPr sz="2800" kern="0" spc="-120" dirty="0">
                <a:solidFill>
                  <a:srgbClr val="60208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●</a:t>
            </a:r>
            <a:r>
              <a:rPr sz="2800" kern="0" spc="-120" dirty="0">
                <a:solidFill>
                  <a:srgbClr val="60208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</a:t>
            </a:r>
            <a:r>
              <a:rPr sz="2800" kern="0" spc="-12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第二部分的内容可以不携带资料，如果希望有参考</a:t>
            </a:r>
            <a:r>
              <a:rPr sz="2800" kern="0" spc="2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</a:t>
            </a:r>
            <a:r>
              <a:rPr sz="2800" kern="0" spc="-5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内容，下面的讲义就足</a:t>
            </a:r>
            <a:r>
              <a:rPr sz="2800" kern="0" spc="-6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够</a:t>
            </a:r>
            <a:endParaRPr sz="2800" dirty="0">
              <a:latin typeface="黑体"/>
              <a:ea typeface="黑体"/>
              <a:cs typeface="黑体"/>
            </a:endParaRPr>
          </a:p>
          <a:p>
            <a:pPr marL="316865" algn="l" rtl="0" eaLnBrk="0">
              <a:lnSpc>
                <a:spcPts val="3815"/>
              </a:lnSpc>
              <a:spcBef>
                <a:spcPts val="875"/>
              </a:spcBef>
            </a:pPr>
            <a:r>
              <a:rPr sz="2800" kern="0" spc="-90" dirty="0">
                <a:solidFill>
                  <a:srgbClr val="40206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·</a:t>
            </a:r>
            <a:r>
              <a:rPr sz="2800" kern="0" spc="-90" dirty="0">
                <a:solidFill>
                  <a:srgbClr val="40206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</a:t>
            </a:r>
            <a:r>
              <a:rPr sz="2800" kern="0" spc="-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Chapter  9-</a:t>
            </a:r>
            <a:r>
              <a:rPr sz="2800" kern="0" spc="-3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800" kern="0" spc="-9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领域</a:t>
            </a:r>
            <a:r>
              <a:rPr sz="2800" kern="0" spc="-10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模型</a:t>
            </a:r>
            <a:endParaRPr sz="2800" dirty="0">
              <a:latin typeface="黑体"/>
              <a:ea typeface="黑体"/>
              <a:cs typeface="黑体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678815" indent="-361950" algn="l" rtl="0" eaLnBrk="0">
              <a:lnSpc>
                <a:spcPct val="105000"/>
              </a:lnSpc>
              <a:spcBef>
                <a:spcPts val="5"/>
              </a:spcBef>
            </a:pPr>
            <a:endParaRPr sz="3000" dirty="0">
              <a:latin typeface="黑体"/>
              <a:ea typeface="黑体"/>
              <a:cs typeface="黑体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134320" y="127010"/>
            <a:ext cx="819210" cy="1320782"/>
          </a:xfrm>
          <a:prstGeom prst="rect">
            <a:avLst/>
          </a:prstGeom>
        </p:spPr>
      </p:pic>
      <p:sp>
        <p:nvSpPr>
          <p:cNvPr id="18" name="textbox 18"/>
          <p:cNvSpPr/>
          <p:nvPr/>
        </p:nvSpPr>
        <p:spPr>
          <a:xfrm>
            <a:off x="488939" y="870725"/>
            <a:ext cx="1987550" cy="5892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3900" kern="0" spc="-40" dirty="0">
                <a:solidFill>
                  <a:srgbClr val="40208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考试内容</a:t>
            </a:r>
            <a:endParaRPr sz="3900" dirty="0">
              <a:latin typeface="宋体"/>
              <a:ea typeface="宋体"/>
              <a:cs typeface="宋体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20"/>
          <p:cNvSpPr/>
          <p:nvPr/>
        </p:nvSpPr>
        <p:spPr>
          <a:xfrm>
            <a:off x="482630" y="870725"/>
            <a:ext cx="5098415" cy="5229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3900" kern="0" spc="-70" dirty="0">
                <a:solidFill>
                  <a:srgbClr val="40207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设计模式</a:t>
            </a:r>
            <a:endParaRPr sz="3900" dirty="0">
              <a:latin typeface="宋体"/>
              <a:ea typeface="宋体"/>
              <a:cs typeface="宋体"/>
            </a:endParaRPr>
          </a:p>
          <a:p>
            <a:pPr algn="l" rtl="0" eaLnBrk="0">
              <a:lnSpc>
                <a:spcPct val="179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55600" indent="-342900" algn="l" rtl="0" eaLnBrk="0">
              <a:lnSpc>
                <a:spcPts val="3265"/>
              </a:lnSpc>
              <a:spcBef>
                <a:spcPts val="760"/>
              </a:spcBef>
              <a:buFont typeface="Arial" panose="020B0604020202090204" pitchFamily="34" charset="0"/>
              <a:buChar char="•"/>
            </a:pPr>
            <a:r>
              <a:rPr lang="en-US" sz="2500" kern="0" spc="-80" dirty="0">
                <a:solidFill>
                  <a:srgbClr val="000000">
                    <a:alpha val="100000"/>
                  </a:srgbClr>
                </a:solidFill>
                <a:latin typeface="PingFang SC Regular" panose="020B0400000000000000" charset="-122"/>
                <a:ea typeface="PingFang SC Regular" panose="020B0400000000000000" charset="-122"/>
                <a:cs typeface="Arial" panose="020B0604020202090204"/>
              </a:rPr>
              <a:t> </a:t>
            </a:r>
            <a:r>
              <a:rPr sz="2500" kern="0" spc="-80" dirty="0">
                <a:solidFill>
                  <a:srgbClr val="000000">
                    <a:alpha val="100000"/>
                  </a:srgbClr>
                </a:solidFill>
                <a:latin typeface="PingFang SC Regular" panose="020B0400000000000000" charset="-122"/>
                <a:ea typeface="PingFang SC Regular" panose="020B0400000000000000" charset="-122"/>
                <a:cs typeface="Arial" panose="020B0604020202090204"/>
              </a:rPr>
              <a:t>Visitor</a:t>
            </a:r>
            <a:endParaRPr sz="2500" dirty="0">
              <a:latin typeface="PingFang SC Regular" panose="020B0400000000000000" charset="-122"/>
              <a:ea typeface="PingFang SC Regular" panose="020B0400000000000000" charset="-122"/>
              <a:cs typeface="Arial" panose="020B0604020202090204"/>
            </a:endParaRPr>
          </a:p>
          <a:p>
            <a:pPr marL="469900" indent="-457200" algn="l" rtl="0" eaLnBrk="0">
              <a:lnSpc>
                <a:spcPts val="3360"/>
              </a:lnSpc>
              <a:spcBef>
                <a:spcPts val="540"/>
              </a:spcBef>
              <a:buFont typeface="Arial" panose="020B0604020202090204" pitchFamily="34" charset="0"/>
              <a:buChar char="•"/>
            </a:pPr>
            <a:r>
              <a:rPr sz="2700" kern="0" spc="-140" dirty="0">
                <a:solidFill>
                  <a:srgbClr val="000000">
                    <a:alpha val="100000"/>
                  </a:srgbClr>
                </a:solidFill>
                <a:latin typeface="PingFang SC Regular" panose="020B0400000000000000" charset="-122"/>
                <a:ea typeface="PingFang SC Regular" panose="020B0400000000000000" charset="-122"/>
                <a:cs typeface="Arial" panose="020B0604020202090204"/>
              </a:rPr>
              <a:t>Observer</a:t>
            </a:r>
            <a:endParaRPr sz="2700" kern="0" spc="-140" dirty="0">
              <a:solidFill>
                <a:srgbClr val="000000">
                  <a:alpha val="100000"/>
                </a:srgbClr>
              </a:solidFill>
              <a:latin typeface="PingFang SC Regular" panose="020B0400000000000000" charset="-122"/>
              <a:ea typeface="PingFang SC Regular" panose="020B0400000000000000" charset="-122"/>
              <a:cs typeface="Arial" panose="020B0604020202090204"/>
            </a:endParaRPr>
          </a:p>
          <a:p>
            <a:pPr marL="469900" indent="-457200" algn="l" rtl="0" eaLnBrk="0">
              <a:lnSpc>
                <a:spcPts val="3360"/>
              </a:lnSpc>
              <a:spcBef>
                <a:spcPts val="540"/>
              </a:spcBef>
              <a:buFont typeface="Arial" panose="020B0604020202090204" pitchFamily="34" charset="0"/>
              <a:buChar char="•"/>
            </a:pPr>
            <a:r>
              <a:rPr sz="2700" kern="0" spc="-670" dirty="0">
                <a:solidFill>
                  <a:srgbClr val="202060">
                    <a:alpha val="100000"/>
                  </a:srgbClr>
                </a:solidFill>
                <a:latin typeface="PingFang SC Regular" panose="020B0400000000000000" charset="-122"/>
                <a:ea typeface="PingFang SC Regular" panose="020B0400000000000000" charset="-122"/>
                <a:cs typeface="宋体"/>
              </a:rPr>
              <a:t> </a:t>
            </a:r>
            <a:r>
              <a:rPr sz="2700" kern="0" spc="-110" dirty="0">
                <a:solidFill>
                  <a:srgbClr val="000000">
                    <a:alpha val="100000"/>
                  </a:srgbClr>
                </a:solidFill>
                <a:latin typeface="PingFang SC Regular" panose="020B0400000000000000" charset="-122"/>
                <a:ea typeface="PingFang SC Regular" panose="020B0400000000000000" charset="-122"/>
                <a:cs typeface="Arial" panose="020B0604020202090204"/>
              </a:rPr>
              <a:t>Strategy</a:t>
            </a:r>
            <a:endParaRPr sz="2700" dirty="0">
              <a:latin typeface="PingFang SC Regular" panose="020B0400000000000000" charset="-122"/>
              <a:ea typeface="PingFang SC Regular" panose="020B0400000000000000" charset="-122"/>
              <a:cs typeface="Arial" panose="020B0604020202090204"/>
            </a:endParaRPr>
          </a:p>
          <a:p>
            <a:pPr marL="469900" indent="-457200" algn="l" rtl="0" eaLnBrk="0">
              <a:lnSpc>
                <a:spcPts val="3750"/>
              </a:lnSpc>
              <a:spcBef>
                <a:spcPts val="335"/>
              </a:spcBef>
              <a:buFont typeface="Arial" panose="020B0604020202090204" pitchFamily="34" charset="0"/>
              <a:buChar char="•"/>
            </a:pPr>
            <a:r>
              <a:rPr sz="2600" kern="0" spc="-120" dirty="0">
                <a:solidFill>
                  <a:srgbClr val="000000">
                    <a:alpha val="100000"/>
                  </a:srgbClr>
                </a:solidFill>
                <a:latin typeface="PingFang SC Regular" panose="020B0400000000000000" charset="-122"/>
                <a:ea typeface="PingFang SC Regular" panose="020B0400000000000000" charset="-122"/>
                <a:cs typeface="Arial" panose="020B0604020202090204"/>
              </a:rPr>
              <a:t>Iterator</a:t>
            </a:r>
            <a:endParaRPr sz="2600" dirty="0">
              <a:latin typeface="PingFang SC Regular" panose="020B0400000000000000" charset="-122"/>
              <a:ea typeface="PingFang SC Regular" panose="020B0400000000000000" charset="-122"/>
              <a:cs typeface="Arial" panose="020B0604020202090204"/>
            </a:endParaRPr>
          </a:p>
          <a:p>
            <a:pPr marL="469900" indent="-457200" algn="l" rtl="0" eaLnBrk="0">
              <a:lnSpc>
                <a:spcPct val="93000"/>
              </a:lnSpc>
              <a:spcBef>
                <a:spcPts val="585"/>
              </a:spcBef>
              <a:buFont typeface="Arial" panose="020B0604020202090204" pitchFamily="34" charset="0"/>
              <a:buChar char="•"/>
            </a:pPr>
            <a:r>
              <a:rPr sz="2700" kern="0" spc="-100" dirty="0">
                <a:solidFill>
                  <a:srgbClr val="000000">
                    <a:alpha val="100000"/>
                  </a:srgbClr>
                </a:solidFill>
                <a:latin typeface="PingFang SC Regular" panose="020B0400000000000000" charset="-122"/>
                <a:ea typeface="PingFang SC Regular" panose="020B0400000000000000" charset="-122"/>
                <a:cs typeface="Arial" panose="020B0604020202090204"/>
              </a:rPr>
              <a:t>Adapter</a:t>
            </a:r>
            <a:endParaRPr sz="2700" dirty="0">
              <a:latin typeface="PingFang SC Regular" panose="020B0400000000000000" charset="-122"/>
              <a:ea typeface="PingFang SC Regular" panose="020B0400000000000000" charset="-122"/>
              <a:cs typeface="Arial" panose="020B0604020202090204"/>
            </a:endParaRPr>
          </a:p>
          <a:p>
            <a:pPr marL="469900" indent="-457200" algn="l" rtl="0" eaLnBrk="0">
              <a:lnSpc>
                <a:spcPct val="93000"/>
              </a:lnSpc>
              <a:spcBef>
                <a:spcPts val="835"/>
              </a:spcBef>
              <a:buFont typeface="Arial" panose="020B0604020202090204" pitchFamily="34" charset="0"/>
              <a:buChar char="•"/>
            </a:pPr>
            <a:r>
              <a:rPr sz="2700" kern="0" spc="-100" dirty="0">
                <a:solidFill>
                  <a:srgbClr val="000000">
                    <a:alpha val="100000"/>
                  </a:srgbClr>
                </a:solidFill>
                <a:latin typeface="PingFang SC Regular" panose="020B0400000000000000" charset="-122"/>
                <a:ea typeface="PingFang SC Regular" panose="020B0400000000000000" charset="-122"/>
                <a:cs typeface="Arial" panose="020B0604020202090204"/>
              </a:rPr>
              <a:t>Composite</a:t>
            </a:r>
            <a:endParaRPr sz="2700" dirty="0">
              <a:latin typeface="PingFang SC Regular" panose="020B0400000000000000" charset="-122"/>
              <a:ea typeface="PingFang SC Regular" panose="020B0400000000000000" charset="-122"/>
              <a:cs typeface="Arial" panose="020B0604020202090204"/>
            </a:endParaRPr>
          </a:p>
          <a:p>
            <a:pPr marL="469900" indent="-457200" algn="l" rtl="0" eaLnBrk="0">
              <a:lnSpc>
                <a:spcPts val="3360"/>
              </a:lnSpc>
              <a:spcBef>
                <a:spcPts val="845"/>
              </a:spcBef>
              <a:buFont typeface="Arial" panose="020B0604020202090204" pitchFamily="34" charset="0"/>
              <a:buChar char="•"/>
            </a:pPr>
            <a:r>
              <a:rPr sz="2700" kern="0" spc="-160" dirty="0">
                <a:solidFill>
                  <a:srgbClr val="000000">
                    <a:alpha val="100000"/>
                  </a:srgbClr>
                </a:solidFill>
                <a:latin typeface="PingFang SC Regular" panose="020B0400000000000000" charset="-122"/>
                <a:ea typeface="PingFang SC Regular" panose="020B0400000000000000" charset="-122"/>
                <a:cs typeface="Arial" panose="020B0604020202090204"/>
              </a:rPr>
              <a:t>Command</a:t>
            </a:r>
            <a:endParaRPr sz="2700" dirty="0">
              <a:latin typeface="PingFang SC Regular" panose="020B0400000000000000" charset="-122"/>
              <a:ea typeface="PingFang SC Regular" panose="020B0400000000000000" charset="-122"/>
              <a:cs typeface="Arial" panose="020B0604020202090204"/>
            </a:endParaRPr>
          </a:p>
          <a:p>
            <a:pPr marL="469900" indent="-457200" algn="l" rtl="0" eaLnBrk="0">
              <a:lnSpc>
                <a:spcPts val="3340"/>
              </a:lnSpc>
              <a:spcBef>
                <a:spcPts val="590"/>
              </a:spcBef>
              <a:buFont typeface="Arial" panose="020B0604020202090204" pitchFamily="34" charset="0"/>
              <a:buChar char="•"/>
            </a:pPr>
            <a:r>
              <a:rPr sz="2600" kern="0" spc="-90" dirty="0">
                <a:solidFill>
                  <a:srgbClr val="000000">
                    <a:alpha val="100000"/>
                  </a:srgbClr>
                </a:solidFill>
                <a:latin typeface="PingFang SC Regular" panose="020B0400000000000000" charset="-122"/>
                <a:ea typeface="PingFang SC Regular" panose="020B0400000000000000" charset="-122"/>
                <a:cs typeface="Arial" panose="020B0604020202090204"/>
              </a:rPr>
              <a:t>Decorato</a:t>
            </a:r>
            <a:r>
              <a:rPr sz="2600" kern="0" spc="-100" dirty="0">
                <a:solidFill>
                  <a:srgbClr val="000000">
                    <a:alpha val="100000"/>
                  </a:srgbClr>
                </a:solidFill>
                <a:latin typeface="PingFang SC Regular" panose="020B0400000000000000" charset="-122"/>
                <a:ea typeface="PingFang SC Regular" panose="020B0400000000000000" charset="-122"/>
                <a:cs typeface="Arial" panose="020B0604020202090204"/>
              </a:rPr>
              <a:t>r</a:t>
            </a:r>
            <a:endParaRPr sz="2600" dirty="0">
              <a:latin typeface="PingFang SC Regular" panose="020B0400000000000000" charset="-122"/>
              <a:ea typeface="PingFang SC Regular" panose="020B0400000000000000" charset="-122"/>
              <a:cs typeface="Arial" panose="020B0604020202090204"/>
            </a:endParaRPr>
          </a:p>
          <a:p>
            <a:pPr marL="469900" indent="-457200" algn="l" rtl="0" eaLnBrk="0">
              <a:lnSpc>
                <a:spcPct val="93000"/>
              </a:lnSpc>
              <a:spcBef>
                <a:spcPts val="220"/>
              </a:spcBef>
              <a:buFont typeface="Arial" panose="020B0604020202090204" pitchFamily="34" charset="0"/>
              <a:buChar char="•"/>
            </a:pPr>
            <a:r>
              <a:rPr sz="2700" kern="0" spc="-20" dirty="0">
                <a:solidFill>
                  <a:srgbClr val="000000">
                    <a:alpha val="100000"/>
                  </a:srgbClr>
                </a:solidFill>
                <a:latin typeface="PingFang SC Regular" panose="020B0400000000000000" charset="-122"/>
                <a:ea typeface="PingFang SC Regular" panose="020B0400000000000000" charset="-122"/>
                <a:cs typeface="Arial" panose="020B0604020202090204"/>
              </a:rPr>
              <a:t>Singleton/Abstract  </a:t>
            </a:r>
            <a:r>
              <a:rPr sz="2700" kern="0" spc="-30" dirty="0">
                <a:solidFill>
                  <a:srgbClr val="000000">
                    <a:alpha val="100000"/>
                  </a:srgbClr>
                </a:solidFill>
                <a:latin typeface="PingFang SC Regular" panose="020B0400000000000000" charset="-122"/>
                <a:ea typeface="PingFang SC Regular" panose="020B0400000000000000" charset="-122"/>
                <a:cs typeface="Arial" panose="020B0604020202090204"/>
              </a:rPr>
              <a:t>Factory</a:t>
            </a:r>
            <a:r>
              <a:rPr sz="2700" kern="0" spc="540" dirty="0">
                <a:solidFill>
                  <a:srgbClr val="000000">
                    <a:alpha val="100000"/>
                  </a:srgbClr>
                </a:solidFill>
                <a:latin typeface="PingFang SC Regular" panose="020B0400000000000000" charset="-122"/>
                <a:ea typeface="PingFang SC Regular" panose="020B0400000000000000" charset="-122"/>
                <a:cs typeface="Arial" panose="020B0604020202090204"/>
              </a:rPr>
              <a:t> </a:t>
            </a:r>
            <a:r>
              <a:rPr sz="2700" kern="0" spc="-30" dirty="0">
                <a:solidFill>
                  <a:srgbClr val="000000">
                    <a:alpha val="100000"/>
                  </a:srgbClr>
                </a:solidFill>
                <a:latin typeface="PingFang SC Regular" panose="020B0400000000000000" charset="-122"/>
                <a:ea typeface="PingFang SC Regular" panose="020B0400000000000000" charset="-122"/>
                <a:cs typeface="Arial" panose="020B0604020202090204"/>
              </a:rPr>
              <a:t>/DI</a:t>
            </a:r>
            <a:endParaRPr sz="2700" dirty="0">
              <a:latin typeface="PingFang SC Regular" panose="020B0400000000000000" charset="-122"/>
              <a:ea typeface="PingFang SC Regular" panose="020B0400000000000000" charset="-122"/>
              <a:cs typeface="Arial" panose="020B0604020202090204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128009" y="133320"/>
            <a:ext cx="825520" cy="130816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4"/>
          <p:cNvSpPr/>
          <p:nvPr/>
        </p:nvSpPr>
        <p:spPr>
          <a:xfrm>
            <a:off x="495340" y="1824962"/>
            <a:ext cx="7968615" cy="16294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35915" indent="-323215" algn="l" rtl="0" eaLnBrk="0">
              <a:lnSpc>
                <a:spcPct val="106000"/>
              </a:lnSpc>
            </a:pPr>
            <a:r>
              <a:rPr sz="3000" kern="0" spc="-90" dirty="0">
                <a:solidFill>
                  <a:srgbClr val="60208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●</a:t>
            </a:r>
            <a:r>
              <a:rPr sz="3000" kern="0" spc="-90" dirty="0">
                <a:solidFill>
                  <a:srgbClr val="60208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</a:t>
            </a:r>
            <a:r>
              <a:rPr sz="3000" kern="0" spc="-9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给出一个应用场景，判断应该使用什么设计模</a:t>
            </a:r>
            <a:r>
              <a:rPr sz="3000" kern="0" spc="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</a:t>
            </a:r>
            <a:r>
              <a:rPr sz="3000" kern="0" spc="-7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式解决改问题。</a:t>
            </a:r>
            <a:endParaRPr sz="3000" dirty="0">
              <a:latin typeface="黑体"/>
              <a:ea typeface="黑体"/>
              <a:cs typeface="黑体"/>
            </a:endParaRPr>
          </a:p>
          <a:p>
            <a:pPr marL="12700" algn="l" rtl="0" eaLnBrk="0">
              <a:lnSpc>
                <a:spcPts val="4090"/>
              </a:lnSpc>
              <a:spcBef>
                <a:spcPts val="900"/>
              </a:spcBef>
            </a:pPr>
            <a:r>
              <a:rPr sz="3000" kern="0" spc="-210" dirty="0">
                <a:solidFill>
                  <a:srgbClr val="60208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●</a:t>
            </a:r>
            <a:r>
              <a:rPr sz="3000" kern="0" spc="-210" dirty="0">
                <a:solidFill>
                  <a:srgbClr val="60208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</a:t>
            </a:r>
            <a:r>
              <a:rPr sz="3000" kern="0" spc="-21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需要使用</a:t>
            </a:r>
            <a:r>
              <a:rPr sz="3000" kern="0" spc="-2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uml</a:t>
            </a:r>
            <a:r>
              <a:rPr sz="3000" kern="0" spc="-21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给出解决的方案。</a:t>
            </a:r>
            <a:endParaRPr sz="3000" dirty="0">
              <a:latin typeface="黑体"/>
              <a:ea typeface="黑体"/>
              <a:cs typeface="黑体"/>
            </a:endParaR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134320" y="133319"/>
            <a:ext cx="819210" cy="1314472"/>
          </a:xfrm>
          <a:prstGeom prst="rect">
            <a:avLst/>
          </a:prstGeom>
        </p:spPr>
      </p:pic>
      <p:sp>
        <p:nvSpPr>
          <p:cNvPr id="28" name="textbox 28"/>
          <p:cNvSpPr/>
          <p:nvPr/>
        </p:nvSpPr>
        <p:spPr>
          <a:xfrm>
            <a:off x="495340" y="870725"/>
            <a:ext cx="1979929" cy="5892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r" rtl="0" eaLnBrk="0">
              <a:lnSpc>
                <a:spcPct val="95000"/>
              </a:lnSpc>
            </a:pPr>
            <a:r>
              <a:rPr sz="3900" kern="0" spc="-60" dirty="0">
                <a:solidFill>
                  <a:srgbClr val="40207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设计模</a:t>
            </a:r>
            <a:r>
              <a:rPr sz="3900" kern="0" spc="-60" dirty="0">
                <a:solidFill>
                  <a:srgbClr val="40207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式</a:t>
            </a:r>
            <a:endParaRPr sz="3900" dirty="0">
              <a:latin typeface="宋体"/>
              <a:ea typeface="宋体"/>
              <a:cs typeface="宋体"/>
            </a:endParaR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956539" y="146074"/>
            <a:ext cx="6350" cy="1536672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012960" y="996947"/>
            <a:ext cx="438180" cy="637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4"/>
          <p:cNvSpPr/>
          <p:nvPr/>
        </p:nvSpPr>
        <p:spPr>
          <a:xfrm>
            <a:off x="533379" y="1796905"/>
            <a:ext cx="7812405" cy="11131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r" rtl="0" eaLnBrk="0">
              <a:lnSpc>
                <a:spcPct val="95000"/>
              </a:lnSpc>
            </a:pPr>
            <a:r>
              <a:rPr sz="3000" kern="0" spc="-90" dirty="0">
                <a:solidFill>
                  <a:srgbClr val="50109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●</a:t>
            </a:r>
            <a:r>
              <a:rPr sz="3000" kern="0" spc="-90" dirty="0">
                <a:solidFill>
                  <a:srgbClr val="50109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</a:t>
            </a:r>
            <a:r>
              <a:rPr sz="3000" kern="0" spc="-9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检查示例代码中的</a:t>
            </a:r>
            <a:r>
              <a:rPr sz="3000" kern="0" spc="-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Bad</a:t>
            </a:r>
            <a:r>
              <a:rPr sz="3000" kern="0" spc="3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0" kern="0" spc="-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Smell</a:t>
            </a:r>
            <a:r>
              <a:rPr sz="3000" kern="0" spc="-9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并给出修改方式</a:t>
            </a:r>
            <a:endParaRPr sz="3000" dirty="0">
              <a:latin typeface="黑体"/>
              <a:ea typeface="黑体"/>
              <a:cs typeface="黑体"/>
            </a:endParaRPr>
          </a:p>
          <a:p>
            <a:pPr algn="l" rtl="0" eaLnBrk="0">
              <a:lnSpc>
                <a:spcPct val="106000"/>
              </a:lnSpc>
            </a:pPr>
            <a:endParaRPr sz="1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2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5240" algn="l" rtl="0" eaLnBrk="0">
              <a:lnSpc>
                <a:spcPct val="96000"/>
              </a:lnSpc>
            </a:pPr>
            <a:r>
              <a:rPr sz="3000" b="1" kern="0" spc="-90" dirty="0">
                <a:solidFill>
                  <a:srgbClr val="50109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●</a:t>
            </a:r>
            <a:r>
              <a:rPr sz="3000" kern="0" spc="-90" dirty="0">
                <a:solidFill>
                  <a:srgbClr val="50109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</a:t>
            </a:r>
            <a:r>
              <a:rPr sz="3000" kern="0" spc="-9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必要的情况下需</a:t>
            </a:r>
            <a:r>
              <a:rPr sz="3000" kern="0" spc="-10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要重构至特定的设计模式</a:t>
            </a:r>
            <a:endParaRPr sz="3000" dirty="0">
              <a:latin typeface="黑体"/>
              <a:ea typeface="黑体"/>
              <a:cs typeface="黑体"/>
            </a:endParaR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172450" y="114322"/>
            <a:ext cx="806409" cy="1282651"/>
          </a:xfrm>
          <a:prstGeom prst="rect">
            <a:avLst/>
          </a:prstGeom>
        </p:spPr>
      </p:pic>
      <p:sp>
        <p:nvSpPr>
          <p:cNvPr id="38" name="textbox 38"/>
          <p:cNvSpPr/>
          <p:nvPr/>
        </p:nvSpPr>
        <p:spPr>
          <a:xfrm>
            <a:off x="533379" y="853640"/>
            <a:ext cx="1042669" cy="5911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3900" kern="0" spc="90" dirty="0">
                <a:solidFill>
                  <a:srgbClr val="40208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重构</a:t>
            </a:r>
            <a:endParaRPr sz="3900" dirty="0">
              <a:latin typeface="宋体"/>
              <a:ea typeface="宋体"/>
              <a:cs typeface="宋体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40"/>
          <p:cNvSpPr/>
          <p:nvPr/>
        </p:nvSpPr>
        <p:spPr>
          <a:xfrm>
            <a:off x="495340" y="872706"/>
            <a:ext cx="6831965" cy="20402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3900" kern="0" spc="-40" dirty="0">
                <a:solidFill>
                  <a:srgbClr val="40206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测试</a:t>
            </a:r>
            <a:r>
              <a:rPr sz="3900" kern="0" spc="-40" dirty="0">
                <a:solidFill>
                  <a:srgbClr val="40206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驱</a:t>
            </a:r>
            <a:r>
              <a:rPr sz="3900" kern="0" spc="-40" dirty="0">
                <a:solidFill>
                  <a:srgbClr val="40206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动的开发</a:t>
            </a:r>
            <a:endParaRPr sz="3900" dirty="0">
              <a:latin typeface="宋体"/>
              <a:ea typeface="宋体"/>
              <a:cs typeface="宋体"/>
            </a:endParaRPr>
          </a:p>
          <a:p>
            <a:pPr algn="l" rtl="0" eaLnBrk="0">
              <a:lnSpc>
                <a:spcPct val="182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5000"/>
              </a:lnSpc>
              <a:spcBef>
                <a:spcPts val="910"/>
              </a:spcBef>
            </a:pPr>
            <a:r>
              <a:rPr sz="3000" kern="0" spc="-100" dirty="0">
                <a:solidFill>
                  <a:srgbClr val="60209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●</a:t>
            </a:r>
            <a:r>
              <a:rPr sz="3000" kern="0" spc="-100" dirty="0">
                <a:solidFill>
                  <a:srgbClr val="60209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</a:t>
            </a:r>
            <a:r>
              <a:rPr sz="3000" kern="0" spc="-10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判定示例代码中哪部分无法自动化</a:t>
            </a:r>
            <a:r>
              <a:rPr sz="3000" kern="0" spc="-11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测试</a:t>
            </a:r>
            <a:endParaRPr sz="3000" dirty="0">
              <a:latin typeface="黑体"/>
              <a:ea typeface="黑体"/>
              <a:cs typeface="黑体"/>
            </a:endParaRPr>
          </a:p>
          <a:p>
            <a:pPr algn="l" rtl="0" eaLnBrk="0">
              <a:lnSpc>
                <a:spcPct val="102000"/>
              </a:lnSpc>
            </a:pPr>
            <a:endParaRPr sz="12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3000" kern="0" spc="-220" dirty="0">
                <a:solidFill>
                  <a:srgbClr val="40206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●</a:t>
            </a:r>
            <a:r>
              <a:rPr sz="3000" kern="0" spc="-220" dirty="0">
                <a:solidFill>
                  <a:srgbClr val="40206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</a:t>
            </a:r>
            <a:r>
              <a:rPr sz="3000" kern="0" spc="-22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给出修改的方法</a:t>
            </a:r>
            <a:endParaRPr sz="3000" dirty="0">
              <a:latin typeface="黑体"/>
              <a:ea typeface="黑体"/>
              <a:cs typeface="黑体"/>
            </a:endParaRPr>
          </a:p>
        </p:txBody>
      </p:sp>
      <p:pic>
        <p:nvPicPr>
          <p:cNvPr id="42" name="picture 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134320" y="133319"/>
            <a:ext cx="819210" cy="1314472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956539" y="146074"/>
            <a:ext cx="6350" cy="1536672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752630" y="946129"/>
            <a:ext cx="203179" cy="637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48"/>
          <p:cNvSpPr/>
          <p:nvPr/>
        </p:nvSpPr>
        <p:spPr>
          <a:xfrm>
            <a:off x="495340" y="1787044"/>
            <a:ext cx="7833994" cy="10236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31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61315" indent="-348615" algn="l" rtl="0" eaLnBrk="0">
              <a:lnSpc>
                <a:spcPct val="110000"/>
              </a:lnSpc>
            </a:pPr>
            <a:r>
              <a:rPr lang="en-US" sz="3000" kern="0" spc="-7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 </a:t>
            </a:r>
            <a:r>
              <a:rPr sz="3000" kern="0" spc="-7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从</a:t>
            </a:r>
            <a:r>
              <a:rPr sz="3000" kern="0" spc="-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SOLID</a:t>
            </a:r>
            <a:r>
              <a:rPr sz="3000" kern="0" spc="-7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的角度分</a:t>
            </a:r>
            <a:r>
              <a:rPr sz="3000" kern="0" spc="-8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析代码或</a:t>
            </a:r>
            <a:r>
              <a:rPr sz="3000" kern="0" spc="-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uml</a:t>
            </a:r>
            <a:r>
              <a:rPr sz="3000" kern="0" spc="-8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设计存在的问</a:t>
            </a:r>
            <a:r>
              <a:rPr sz="3000" kern="0" spc="-4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题，并给出修改的对策</a:t>
            </a:r>
            <a:r>
              <a:rPr sz="3000" kern="0" spc="-5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。</a:t>
            </a:r>
            <a:endParaRPr sz="3000" dirty="0">
              <a:latin typeface="黑体"/>
              <a:ea typeface="黑体"/>
              <a:cs typeface="黑体"/>
            </a:endParaRPr>
          </a:p>
        </p:txBody>
      </p:sp>
      <p:sp>
        <p:nvSpPr>
          <p:cNvPr id="50" name="textbox 50"/>
          <p:cNvSpPr/>
          <p:nvPr/>
        </p:nvSpPr>
        <p:spPr>
          <a:xfrm>
            <a:off x="514360" y="834316"/>
            <a:ext cx="3885565" cy="5695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5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r" rtl="0" eaLnBrk="0">
              <a:lnSpc>
                <a:spcPct val="92000"/>
              </a:lnSpc>
            </a:pPr>
            <a:r>
              <a:rPr sz="3900" kern="0" spc="-240" dirty="0">
                <a:solidFill>
                  <a:srgbClr val="60208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设计原则 (</a:t>
            </a:r>
            <a:r>
              <a:rPr sz="3900" kern="0" spc="-1110" dirty="0">
                <a:solidFill>
                  <a:srgbClr val="60208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 </a:t>
            </a:r>
            <a:r>
              <a:rPr sz="3900" kern="0" spc="-240" dirty="0">
                <a:solidFill>
                  <a:srgbClr val="60208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</a:t>
            </a:r>
            <a:r>
              <a:rPr sz="3900" kern="0" spc="-230" dirty="0">
                <a:solidFill>
                  <a:srgbClr val="60208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OLID</a:t>
            </a:r>
            <a:r>
              <a:rPr sz="3900" kern="0" spc="-160" dirty="0">
                <a:solidFill>
                  <a:srgbClr val="60208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)</a:t>
            </a:r>
            <a:endParaRPr sz="39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pic>
        <p:nvPicPr>
          <p:cNvPr id="52" name="picture 5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134320" y="133319"/>
            <a:ext cx="819210" cy="13144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box 54"/>
          <p:cNvSpPr/>
          <p:nvPr/>
        </p:nvSpPr>
        <p:spPr>
          <a:xfrm>
            <a:off x="495340" y="1831340"/>
            <a:ext cx="7964169" cy="28695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59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42265" indent="-329565" algn="l" rtl="0" eaLnBrk="0">
              <a:lnSpc>
                <a:spcPct val="104000"/>
              </a:lnSpc>
            </a:pPr>
            <a:r>
              <a:rPr sz="3000" kern="0" spc="-9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根据需求，完成静态领域模</a:t>
            </a:r>
            <a:r>
              <a:rPr sz="3000" kern="0" spc="-10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型的定</a:t>
            </a:r>
            <a:r>
              <a:rPr sz="3000" kern="0" spc="-6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义，包括</a:t>
            </a:r>
            <a:endParaRPr sz="3000" dirty="0">
              <a:latin typeface="黑体"/>
              <a:ea typeface="黑体"/>
              <a:cs typeface="黑体"/>
            </a:endParaRPr>
          </a:p>
          <a:p>
            <a:pPr marL="342265" algn="l" rtl="0" eaLnBrk="0">
              <a:lnSpc>
                <a:spcPts val="3410"/>
              </a:lnSpc>
              <a:spcBef>
                <a:spcPts val="1770"/>
              </a:spcBef>
            </a:pPr>
            <a:r>
              <a:rPr sz="2800" kern="0" spc="-17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概念类</a:t>
            </a:r>
            <a:endParaRPr sz="2800" dirty="0">
              <a:latin typeface="黑体"/>
              <a:ea typeface="黑体"/>
              <a:cs typeface="黑体"/>
            </a:endParaRPr>
          </a:p>
          <a:p>
            <a:pPr marL="342265" algn="l" rtl="0" eaLnBrk="0">
              <a:lnSpc>
                <a:spcPct val="95000"/>
              </a:lnSpc>
              <a:spcBef>
                <a:spcPts val="1305"/>
              </a:spcBef>
            </a:pPr>
            <a:r>
              <a:rPr sz="3000" kern="0" spc="-19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概念类之间的关系</a:t>
            </a:r>
            <a:endParaRPr sz="3000" dirty="0">
              <a:latin typeface="黑体"/>
              <a:ea typeface="黑体"/>
              <a:cs typeface="黑体"/>
            </a:endParaRPr>
          </a:p>
          <a:p>
            <a:pPr algn="l" rtl="0" eaLnBrk="0">
              <a:lnSpc>
                <a:spcPct val="103000"/>
              </a:lnSpc>
            </a:pPr>
            <a:endParaRPr sz="1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9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42265" algn="l" rtl="0" eaLnBrk="0">
              <a:lnSpc>
                <a:spcPct val="98000"/>
              </a:lnSpc>
            </a:pPr>
            <a:r>
              <a:rPr sz="2900" kern="0" spc="-27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基本属性</a:t>
            </a:r>
            <a:endParaRPr sz="2900" dirty="0">
              <a:latin typeface="黑体"/>
              <a:ea typeface="黑体"/>
              <a:cs typeface="黑体"/>
            </a:endParaRPr>
          </a:p>
        </p:txBody>
      </p:sp>
      <p:sp>
        <p:nvSpPr>
          <p:cNvPr id="56" name="textbox 56"/>
          <p:cNvSpPr/>
          <p:nvPr/>
        </p:nvSpPr>
        <p:spPr>
          <a:xfrm>
            <a:off x="501650" y="855294"/>
            <a:ext cx="4411345" cy="5695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1000"/>
              </a:lnSpc>
              <a:spcBef>
                <a:spcPts val="0"/>
              </a:spcBef>
            </a:pPr>
            <a:r>
              <a:rPr sz="3900" kern="0" spc="-70" dirty="0">
                <a:solidFill>
                  <a:srgbClr val="50106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领域模型</a:t>
            </a:r>
            <a:r>
              <a:rPr sz="3900" kern="0" spc="-70" dirty="0">
                <a:solidFill>
                  <a:srgbClr val="40206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(参考</a:t>
            </a:r>
            <a:r>
              <a:rPr sz="3900" kern="0" spc="-70" dirty="0">
                <a:solidFill>
                  <a:srgbClr val="40206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Lab2)</a:t>
            </a:r>
            <a:endParaRPr sz="39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58" name="picture 5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134320" y="133319"/>
            <a:ext cx="819210" cy="13144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66"/>
          <p:cNvSpPr/>
          <p:nvPr/>
        </p:nvSpPr>
        <p:spPr>
          <a:xfrm>
            <a:off x="488939" y="876668"/>
            <a:ext cx="2853054" cy="26835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6000"/>
              </a:lnSpc>
            </a:pPr>
            <a:r>
              <a:rPr sz="3900" kern="0" spc="-90" dirty="0">
                <a:solidFill>
                  <a:srgbClr val="40107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题</a:t>
            </a:r>
            <a:r>
              <a:rPr sz="3900" kern="0" spc="-90" dirty="0">
                <a:solidFill>
                  <a:srgbClr val="40206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型</a:t>
            </a:r>
            <a:endParaRPr sz="3900" dirty="0">
              <a:latin typeface="宋体"/>
              <a:ea typeface="宋体"/>
              <a:cs typeface="宋体"/>
            </a:endParaRPr>
          </a:p>
          <a:p>
            <a:pPr algn="l" rtl="0" eaLnBrk="0">
              <a:lnSpc>
                <a:spcPct val="178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6000"/>
              </a:lnSpc>
              <a:spcBef>
                <a:spcPts val="905"/>
              </a:spcBef>
            </a:pPr>
            <a:r>
              <a:rPr sz="3000" kern="0" spc="-1750" dirty="0">
                <a:solidFill>
                  <a:srgbClr val="40206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●</a:t>
            </a:r>
            <a:r>
              <a:rPr sz="3000" kern="0" spc="-50" dirty="0">
                <a:solidFill>
                  <a:srgbClr val="40206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</a:t>
            </a:r>
            <a:r>
              <a:rPr sz="3000" kern="0" spc="38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判断题(15%)</a:t>
            </a:r>
            <a:endParaRPr sz="3000" dirty="0">
              <a:latin typeface="黑体"/>
              <a:ea typeface="黑体"/>
              <a:cs typeface="黑体"/>
            </a:endParaRPr>
          </a:p>
          <a:p>
            <a:pPr marL="12700" algn="l" rtl="0" eaLnBrk="0">
              <a:lnSpc>
                <a:spcPct val="96000"/>
              </a:lnSpc>
              <a:spcBef>
                <a:spcPts val="1475"/>
              </a:spcBef>
            </a:pPr>
            <a:r>
              <a:rPr sz="3000" kern="0" spc="-1750" dirty="0">
                <a:solidFill>
                  <a:srgbClr val="40206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●</a:t>
            </a:r>
            <a:r>
              <a:rPr sz="3000" kern="0" spc="-50" dirty="0">
                <a:solidFill>
                  <a:srgbClr val="40206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</a:t>
            </a:r>
            <a:r>
              <a:rPr sz="3000" kern="0" spc="38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简答题(10%)</a:t>
            </a:r>
            <a:endParaRPr sz="3000" dirty="0">
              <a:latin typeface="黑体"/>
              <a:ea typeface="黑体"/>
              <a:cs typeface="黑体"/>
            </a:endParaRPr>
          </a:p>
          <a:p>
            <a:pPr algn="l" rtl="0" eaLnBrk="0">
              <a:lnSpc>
                <a:spcPct val="100000"/>
              </a:lnSpc>
            </a:pPr>
            <a:endParaRPr sz="1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6000"/>
              </a:lnSpc>
              <a:spcBef>
                <a:spcPts val="5"/>
              </a:spcBef>
            </a:pPr>
            <a:r>
              <a:rPr sz="3000" kern="0" spc="-1750" dirty="0">
                <a:solidFill>
                  <a:srgbClr val="40206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●</a:t>
            </a:r>
            <a:r>
              <a:rPr sz="3000" kern="0" spc="-50" dirty="0">
                <a:solidFill>
                  <a:srgbClr val="40206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</a:t>
            </a:r>
            <a:r>
              <a:rPr sz="3000" kern="0" spc="38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问答题(75%)</a:t>
            </a:r>
            <a:endParaRPr sz="3000" dirty="0">
              <a:latin typeface="黑体"/>
              <a:ea typeface="黑体"/>
              <a:cs typeface="黑体"/>
            </a:endParaRPr>
          </a:p>
        </p:txBody>
      </p:sp>
      <p:pic>
        <p:nvPicPr>
          <p:cNvPr id="68" name="picture 6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134320" y="127010"/>
            <a:ext cx="819210" cy="132078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537</Words>
  <Application>WPS 演示</Application>
  <PresentationFormat/>
  <Paragraphs>72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9" baseType="lpstr">
      <vt:lpstr>Arial</vt:lpstr>
      <vt:lpstr>宋体</vt:lpstr>
      <vt:lpstr>Wingdings</vt:lpstr>
      <vt:lpstr>Arial</vt:lpstr>
      <vt:lpstr>黑体</vt:lpstr>
      <vt:lpstr>汉仪中黑KW</vt:lpstr>
      <vt:lpstr>宋体</vt:lpstr>
      <vt:lpstr>汉仪书宋二KW</vt:lpstr>
      <vt:lpstr>Times New Roman</vt:lpstr>
      <vt:lpstr>微软雅黑</vt:lpstr>
      <vt:lpstr>汉仪旗黑</vt:lpstr>
      <vt:lpstr>宋体</vt:lpstr>
      <vt:lpstr>Arial Unicode MS</vt:lpstr>
      <vt:lpstr>Calibri</vt:lpstr>
      <vt:lpstr>Helvetica Neue</vt:lpstr>
      <vt:lpstr>Times New Roman</vt:lpstr>
      <vt:lpstr>黑体</vt:lpstr>
      <vt:lpstr>PingFang SC Regular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张天戈</cp:lastModifiedBy>
  <cp:revision>13</cp:revision>
  <dcterms:created xsi:type="dcterms:W3CDTF">2026-06-10T08:28:03Z</dcterms:created>
  <dcterms:modified xsi:type="dcterms:W3CDTF">2026-06-10T08:28:03Z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wqlLaW5nc29mdCBQREYgdG8gV1BTIDExMEI</vt:lpwstr>
  </property>
  <property fmtid="{D5CDD505-2E9C-101B-9397-08002B2CF9AE}" pid="3" name="Created">
    <vt:filetime>2026-06-10T09:48:34Z</vt:filetime>
  </property>
  <property fmtid="{D5CDD505-2E9C-101B-9397-08002B2CF9AE}" pid="4" name="UsrData">
    <vt:lpwstr>6a28c26ed8f6a8001fa63ff3wl</vt:lpwstr>
  </property>
  <property fmtid="{D5CDD505-2E9C-101B-9397-08002B2CF9AE}" pid="5" name="ICV">
    <vt:lpwstr>DA06F60D172DCB1F1320296A7842822A_43</vt:lpwstr>
  </property>
  <property fmtid="{D5CDD505-2E9C-101B-9397-08002B2CF9AE}" pid="6" name="KSOProductBuildVer">
    <vt:lpwstr>2052-12.1.25895.25895</vt:lpwstr>
  </property>
</Properties>
</file>